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8"/>
  </p:notesMasterIdLst>
  <p:handoutMasterIdLst>
    <p:handoutMasterId r:id="rId19"/>
  </p:handoutMasterIdLst>
  <p:sldIdLst>
    <p:sldId id="261" r:id="rId3"/>
    <p:sldId id="314" r:id="rId4"/>
    <p:sldId id="322" r:id="rId5"/>
    <p:sldId id="323" r:id="rId6"/>
    <p:sldId id="266" r:id="rId7"/>
    <p:sldId id="341" r:id="rId8"/>
    <p:sldId id="342" r:id="rId9"/>
    <p:sldId id="343" r:id="rId10"/>
    <p:sldId id="344" r:id="rId11"/>
    <p:sldId id="350" r:id="rId12"/>
    <p:sldId id="346" r:id="rId13"/>
    <p:sldId id="349" r:id="rId14"/>
    <p:sldId id="340" r:id="rId15"/>
    <p:sldId id="347"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F80406-1E71-4F04-BB9A-C5ABFD0B6E5A}" v="9" dt="2026-03-09T05:37:23.5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82" d="100"/>
          <a:sy n="82" d="100"/>
        </p:scale>
        <p:origin x="509"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umudi Bommireddy" userId="c25e9e9b0f0af77c" providerId="LiveId" clId="{B157A249-3794-4185-8D7C-5203B8A9C87A}"/>
    <pc:docChg chg="custSel addSld delSld modSld">
      <pc:chgData name="Koumudi Bommireddy" userId="c25e9e9b0f0af77c" providerId="LiveId" clId="{B157A249-3794-4185-8D7C-5203B8A9C87A}" dt="2026-03-10T03:20:55.964" v="256" actId="2696"/>
      <pc:docMkLst>
        <pc:docMk/>
      </pc:docMkLst>
      <pc:sldChg chg="modSp mod">
        <pc:chgData name="Koumudi Bommireddy" userId="c25e9e9b0f0af77c" providerId="LiveId" clId="{B157A249-3794-4185-8D7C-5203B8A9C87A}" dt="2026-03-10T03:20:43.901" v="255" actId="20577"/>
        <pc:sldMkLst>
          <pc:docMk/>
          <pc:sldMk cId="1017016331" sldId="314"/>
        </pc:sldMkLst>
        <pc:spChg chg="mod">
          <ac:chgData name="Koumudi Bommireddy" userId="c25e9e9b0f0af77c" providerId="LiveId" clId="{B157A249-3794-4185-8D7C-5203B8A9C87A}" dt="2026-03-10T03:20:43.901" v="255" actId="20577"/>
          <ac:spMkLst>
            <pc:docMk/>
            <pc:sldMk cId="1017016331" sldId="314"/>
            <ac:spMk id="13" creationId="{3F9DE7D0-41AC-90DD-3065-235240261B1B}"/>
          </ac:spMkLst>
        </pc:spChg>
      </pc:sldChg>
      <pc:sldChg chg="addSp delSp modSp mod">
        <pc:chgData name="Koumudi Bommireddy" userId="c25e9e9b0f0af77c" providerId="LiveId" clId="{B157A249-3794-4185-8D7C-5203B8A9C87A}" dt="2026-03-09T14:31:38.152" v="233" actId="1076"/>
        <pc:sldMkLst>
          <pc:docMk/>
          <pc:sldMk cId="3431953712" sldId="340"/>
        </pc:sldMkLst>
        <pc:spChg chg="mod">
          <ac:chgData name="Koumudi Bommireddy" userId="c25e9e9b0f0af77c" providerId="LiveId" clId="{B157A249-3794-4185-8D7C-5203B8A9C87A}" dt="2026-03-09T14:22:50.383" v="207" actId="20577"/>
          <ac:spMkLst>
            <pc:docMk/>
            <pc:sldMk cId="3431953712" sldId="340"/>
            <ac:spMk id="2" creationId="{37323D68-D41B-9825-3931-B79590C795F8}"/>
          </ac:spMkLst>
        </pc:spChg>
        <pc:spChg chg="del">
          <ac:chgData name="Koumudi Bommireddy" userId="c25e9e9b0f0af77c" providerId="LiveId" clId="{B157A249-3794-4185-8D7C-5203B8A9C87A}" dt="2026-03-09T14:27:49.329" v="208" actId="931"/>
          <ac:spMkLst>
            <pc:docMk/>
            <pc:sldMk cId="3431953712" sldId="340"/>
            <ac:spMk id="3" creationId="{D408550D-1730-34EA-8ABA-9BB036DE20DE}"/>
          </ac:spMkLst>
        </pc:spChg>
        <pc:picChg chg="add mod ord">
          <ac:chgData name="Koumudi Bommireddy" userId="c25e9e9b0f0af77c" providerId="LiveId" clId="{B157A249-3794-4185-8D7C-5203B8A9C87A}" dt="2026-03-09T14:31:31.671" v="231" actId="1076"/>
          <ac:picMkLst>
            <pc:docMk/>
            <pc:sldMk cId="3431953712" sldId="340"/>
            <ac:picMk id="8" creationId="{1F30570A-D11B-A356-68F6-B9288B434AA6}"/>
          </ac:picMkLst>
        </pc:picChg>
        <pc:picChg chg="add mod">
          <ac:chgData name="Koumudi Bommireddy" userId="c25e9e9b0f0af77c" providerId="LiveId" clId="{B157A249-3794-4185-8D7C-5203B8A9C87A}" dt="2026-03-09T14:31:35.742" v="232" actId="1076"/>
          <ac:picMkLst>
            <pc:docMk/>
            <pc:sldMk cId="3431953712" sldId="340"/>
            <ac:picMk id="10" creationId="{C9E2D427-4E1F-7F10-AB37-541C95E57117}"/>
          </ac:picMkLst>
        </pc:picChg>
        <pc:picChg chg="add mod">
          <ac:chgData name="Koumudi Bommireddy" userId="c25e9e9b0f0af77c" providerId="LiveId" clId="{B157A249-3794-4185-8D7C-5203B8A9C87A}" dt="2026-03-09T14:29:58.275" v="224" actId="1076"/>
          <ac:picMkLst>
            <pc:docMk/>
            <pc:sldMk cId="3431953712" sldId="340"/>
            <ac:picMk id="12" creationId="{B69E169B-6935-0B12-B73F-B2E5B028E315}"/>
          </ac:picMkLst>
        </pc:picChg>
        <pc:picChg chg="add mod">
          <ac:chgData name="Koumudi Bommireddy" userId="c25e9e9b0f0af77c" providerId="LiveId" clId="{B157A249-3794-4185-8D7C-5203B8A9C87A}" dt="2026-03-09T14:31:38.152" v="233" actId="1076"/>
          <ac:picMkLst>
            <pc:docMk/>
            <pc:sldMk cId="3431953712" sldId="340"/>
            <ac:picMk id="14" creationId="{0EC3A7E3-1573-1399-A841-52E27DEF000D}"/>
          </ac:picMkLst>
        </pc:picChg>
      </pc:sldChg>
      <pc:sldChg chg="addSp delSp modSp del mod">
        <pc:chgData name="Koumudi Bommireddy" userId="c25e9e9b0f0af77c" providerId="LiveId" clId="{B157A249-3794-4185-8D7C-5203B8A9C87A}" dt="2026-03-09T05:34:54.044" v="90" actId="2696"/>
        <pc:sldMkLst>
          <pc:docMk/>
          <pc:sldMk cId="1906946512" sldId="345"/>
        </pc:sldMkLst>
        <pc:spChg chg="add del mod">
          <ac:chgData name="Koumudi Bommireddy" userId="c25e9e9b0f0af77c" providerId="LiveId" clId="{B157A249-3794-4185-8D7C-5203B8A9C87A}" dt="2026-03-09T05:34:52.654" v="89"/>
          <ac:spMkLst>
            <pc:docMk/>
            <pc:sldMk cId="1906946512" sldId="345"/>
            <ac:spMk id="3" creationId="{BDF6B540-85F3-E87C-9B1C-DD334DA04115}"/>
          </ac:spMkLst>
        </pc:spChg>
        <pc:spChg chg="add mod">
          <ac:chgData name="Koumudi Bommireddy" userId="c25e9e9b0f0af77c" providerId="LiveId" clId="{B157A249-3794-4185-8D7C-5203B8A9C87A}" dt="2026-03-09T05:33:26.404" v="45" actId="20577"/>
          <ac:spMkLst>
            <pc:docMk/>
            <pc:sldMk cId="1906946512" sldId="345"/>
            <ac:spMk id="4" creationId="{A5B7F5A0-3987-0CD8-2ED6-3231A52EF7B4}"/>
          </ac:spMkLst>
        </pc:spChg>
        <pc:spChg chg="del">
          <ac:chgData name="Koumudi Bommireddy" userId="c25e9e9b0f0af77c" providerId="LiveId" clId="{B157A249-3794-4185-8D7C-5203B8A9C87A}" dt="2026-03-09T05:31:38.127" v="0" actId="478"/>
          <ac:spMkLst>
            <pc:docMk/>
            <pc:sldMk cId="1906946512" sldId="345"/>
            <ac:spMk id="5" creationId="{49D0E4ED-DE37-6D8E-7EB1-1F0F05E37DA3}"/>
          </ac:spMkLst>
        </pc:spChg>
        <pc:spChg chg="del">
          <ac:chgData name="Koumudi Bommireddy" userId="c25e9e9b0f0af77c" providerId="LiveId" clId="{B157A249-3794-4185-8D7C-5203B8A9C87A}" dt="2026-03-09T05:31:38.127" v="0" actId="478"/>
          <ac:spMkLst>
            <pc:docMk/>
            <pc:sldMk cId="1906946512" sldId="345"/>
            <ac:spMk id="6" creationId="{4925EEDF-18C5-49AB-9643-7F31370592F9}"/>
          </ac:spMkLst>
        </pc:spChg>
        <pc:spChg chg="del">
          <ac:chgData name="Koumudi Bommireddy" userId="c25e9e9b0f0af77c" providerId="LiveId" clId="{B157A249-3794-4185-8D7C-5203B8A9C87A}" dt="2026-03-09T05:31:38.127" v="0" actId="478"/>
          <ac:spMkLst>
            <pc:docMk/>
            <pc:sldMk cId="1906946512" sldId="345"/>
            <ac:spMk id="7" creationId="{803C038D-A939-9973-E752-364BB70EE05C}"/>
          </ac:spMkLst>
        </pc:spChg>
        <pc:spChg chg="del">
          <ac:chgData name="Koumudi Bommireddy" userId="c25e9e9b0f0af77c" providerId="LiveId" clId="{B157A249-3794-4185-8D7C-5203B8A9C87A}" dt="2026-03-09T05:31:38.127" v="0" actId="478"/>
          <ac:spMkLst>
            <pc:docMk/>
            <pc:sldMk cId="1906946512" sldId="345"/>
            <ac:spMk id="8" creationId="{C3A50108-EF3B-F9BF-CB25-7C4C67A41AAC}"/>
          </ac:spMkLst>
        </pc:spChg>
        <pc:spChg chg="add del mod">
          <ac:chgData name="Koumudi Bommireddy" userId="c25e9e9b0f0af77c" providerId="LiveId" clId="{B157A249-3794-4185-8D7C-5203B8A9C87A}" dt="2026-03-09T05:33:42.266" v="46" actId="3680"/>
          <ac:spMkLst>
            <pc:docMk/>
            <pc:sldMk cId="1906946512" sldId="345"/>
            <ac:spMk id="10" creationId="{3233F1F3-3D8D-114A-95E4-A4FF1D109DEA}"/>
          </ac:spMkLst>
        </pc:spChg>
        <pc:graphicFrameChg chg="add mod ord modGraphic">
          <ac:chgData name="Koumudi Bommireddy" userId="c25e9e9b0f0af77c" providerId="LiveId" clId="{B157A249-3794-4185-8D7C-5203B8A9C87A}" dt="2026-03-09T05:34:22.688" v="83" actId="14100"/>
          <ac:graphicFrameMkLst>
            <pc:docMk/>
            <pc:sldMk cId="1906946512" sldId="345"/>
            <ac:graphicFrameMk id="2" creationId="{8AEFEA3A-57D4-07F2-4FA3-3E1FC824B30F}"/>
          </ac:graphicFrameMkLst>
        </pc:graphicFrameChg>
        <pc:graphicFrameChg chg="del">
          <ac:chgData name="Koumudi Bommireddy" userId="c25e9e9b0f0af77c" providerId="LiveId" clId="{B157A249-3794-4185-8D7C-5203B8A9C87A}" dt="2026-03-09T05:31:38.127" v="0" actId="478"/>
          <ac:graphicFrameMkLst>
            <pc:docMk/>
            <pc:sldMk cId="1906946512" sldId="345"/>
            <ac:graphicFrameMk id="3" creationId="{0577601B-1937-31F8-C160-D6935FC5C885}"/>
          </ac:graphicFrameMkLst>
        </pc:graphicFrameChg>
      </pc:sldChg>
      <pc:sldChg chg="del">
        <pc:chgData name="Koumudi Bommireddy" userId="c25e9e9b0f0af77c" providerId="LiveId" clId="{B157A249-3794-4185-8D7C-5203B8A9C87A}" dt="2026-03-10T03:20:55.964" v="256" actId="2696"/>
        <pc:sldMkLst>
          <pc:docMk/>
          <pc:sldMk cId="2357471992" sldId="348"/>
        </pc:sldMkLst>
      </pc:sldChg>
      <pc:sldChg chg="addSp delSp modSp new mod">
        <pc:chgData name="Koumudi Bommireddy" userId="c25e9e9b0f0af77c" providerId="LiveId" clId="{B157A249-3794-4185-8D7C-5203B8A9C87A}" dt="2026-03-09T05:38:03.944" v="194" actId="255"/>
        <pc:sldMkLst>
          <pc:docMk/>
          <pc:sldMk cId="931724973" sldId="350"/>
        </pc:sldMkLst>
        <pc:spChg chg="mod">
          <ac:chgData name="Koumudi Bommireddy" userId="c25e9e9b0f0af77c" providerId="LiveId" clId="{B157A249-3794-4185-8D7C-5203B8A9C87A}" dt="2026-03-09T05:35:34.411" v="131" actId="20577"/>
          <ac:spMkLst>
            <pc:docMk/>
            <pc:sldMk cId="931724973" sldId="350"/>
            <ac:spMk id="2" creationId="{EFD1B69B-213C-8215-4DD8-D60CD756B09D}"/>
          </ac:spMkLst>
        </pc:spChg>
        <pc:spChg chg="del">
          <ac:chgData name="Koumudi Bommireddy" userId="c25e9e9b0f0af77c" providerId="LiveId" clId="{B157A249-3794-4185-8D7C-5203B8A9C87A}" dt="2026-03-09T05:35:44.794" v="132" actId="3680"/>
          <ac:spMkLst>
            <pc:docMk/>
            <pc:sldMk cId="931724973" sldId="350"/>
            <ac:spMk id="3" creationId="{A5C2FEB1-C915-80CB-8EDF-29C8995DB2BB}"/>
          </ac:spMkLst>
        </pc:spChg>
        <pc:spChg chg="mod">
          <ac:chgData name="Koumudi Bommireddy" userId="c25e9e9b0f0af77c" providerId="LiveId" clId="{B157A249-3794-4185-8D7C-5203B8A9C87A}" dt="2026-03-09T05:35:10.604" v="104" actId="20577"/>
          <ac:spMkLst>
            <pc:docMk/>
            <pc:sldMk cId="931724973" sldId="350"/>
            <ac:spMk id="5" creationId="{9527E1AB-D59A-3290-4F0B-3FBC9A748270}"/>
          </ac:spMkLst>
        </pc:spChg>
        <pc:graphicFrameChg chg="add mod ord modGraphic">
          <ac:chgData name="Koumudi Bommireddy" userId="c25e9e9b0f0af77c" providerId="LiveId" clId="{B157A249-3794-4185-8D7C-5203B8A9C87A}" dt="2026-03-09T05:38:03.944" v="194" actId="255"/>
          <ac:graphicFrameMkLst>
            <pc:docMk/>
            <pc:sldMk cId="931724973" sldId="350"/>
            <ac:graphicFrameMk id="7" creationId="{5A74D9EA-6731-8876-EBF0-4F3739B378D1}"/>
          </ac:graphicFrameMkLst>
        </pc:graphicFrame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a:t>Use </a:t>
            </a:r>
            <a:r>
              <a:rPr lang="en-IN" dirty="0"/>
              <a:t>Font size 22 to 28 and Font Style </a:t>
            </a:r>
            <a:r>
              <a:rPr lang="en-IN" b="0" i="0" dirty="0">
                <a:solidFill>
                  <a:srgbClr val="0A0A0A"/>
                </a:solidFill>
                <a:effectLst/>
                <a:latin typeface="Google Sans"/>
              </a:rPr>
              <a:t>Times New Roman </a:t>
            </a:r>
            <a:r>
              <a:rPr lang="en-IN" dirty="0"/>
              <a:t>(body)</a:t>
            </a:r>
          </a:p>
          <a:p>
            <a:r>
              <a:rPr lang="en-IN" dirty="0"/>
              <a:t>Do not change the Template: Heading / Title of the slides</a:t>
            </a:r>
          </a:p>
          <a:p>
            <a:r>
              <a:rPr lang="en-IN" dirty="0"/>
              <a:t>Do not change font style or colours</a:t>
            </a:r>
          </a:p>
          <a:p>
            <a:r>
              <a:rPr lang="en-IN" dirty="0"/>
              <a:t>Do not copy paste paragraphs: use only Bullet Points</a:t>
            </a:r>
          </a:p>
          <a:p>
            <a:r>
              <a:rPr lang="en-IN" dirty="0"/>
              <a:t>Maximum slide Limit is 20 only</a:t>
            </a:r>
          </a:p>
          <a:p>
            <a:r>
              <a:rPr lang="en-IN" dirty="0"/>
              <a:t>As per the number of supervisor allotted adopt slide-2 or slide-3</a:t>
            </a:r>
          </a:p>
          <a:p>
            <a:r>
              <a:rPr lang="en-IN" dirty="0"/>
              <a:t>Please display the required meaningful Content or images or tables </a:t>
            </a:r>
          </a:p>
          <a:p>
            <a:r>
              <a:rPr lang="en-IN" dirty="0"/>
              <a:t>Change the footer accordingly using insert tab then click on header &amp; footer tab and edit it</a:t>
            </a:r>
          </a:p>
          <a:p>
            <a:r>
              <a:rPr lang="en-IN" dirty="0"/>
              <a:t>Save the PPT with Register No, Dept and Review no,  example: </a:t>
            </a:r>
            <a:r>
              <a:rPr lang="en-US" dirty="0"/>
              <a:t>23xxxxxxxxx_CSE</a:t>
            </a:r>
            <a:endParaRPr lang="en-IN"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a:solidFill>
                  <a:srgbClr val="0070C0"/>
                </a:solidFill>
                <a:latin typeface="+mn-lt"/>
                <a:cs typeface="Arial" panose="020B0604020202020204" pitchFamily="34" charset="0"/>
              </a:rPr>
              <a:t>Title: Page Turner: A Smart Digital Library Platform for Unlimited Online Reading</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B Koumudi</a:t>
            </a:r>
          </a:p>
          <a:p>
            <a:pPr marL="0" indent="0" algn="ctr">
              <a:buNone/>
            </a:pPr>
            <a:r>
              <a:rPr lang="en-US" sz="9600" dirty="0"/>
              <a:t>Student ID: 2520090161</a:t>
            </a:r>
            <a:r>
              <a:rPr lang="en-US" sz="2400" dirty="0"/>
              <a:t>)</a:t>
            </a:r>
          </a:p>
          <a:p>
            <a:pPr marL="0" indent="0" algn="ctr">
              <a:buNone/>
            </a:pPr>
            <a:r>
              <a:rPr lang="en-US" sz="11200" dirty="0"/>
              <a:t>Cluster: 1</a:t>
            </a:r>
          </a:p>
          <a:p>
            <a:pPr marL="0" indent="0" algn="ctr">
              <a:buNone/>
            </a:pPr>
            <a:r>
              <a:rPr lang="en-US" sz="11200" dirty="0"/>
              <a:t>Section: 4</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Name: MADHURI TSP</a:t>
            </a: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CSIT</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dirty="0"/>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295400" y="2197002"/>
            <a:ext cx="10058400" cy="3513333"/>
          </a:xfrm>
        </p:spPr>
        <p:txBody>
          <a:bodyPr>
            <a:normAutofit/>
          </a:bodyPr>
          <a:lstStyle/>
          <a:p>
            <a:r>
              <a:rPr lang="en-US" sz="2400" dirty="0" err="1">
                <a:latin typeface="Times New Roman" panose="02020603050405020304" pitchFamily="18" charset="0"/>
                <a:cs typeface="Times New Roman" panose="02020603050405020304" pitchFamily="18" charset="0"/>
              </a:rPr>
              <a:t>PageTurner</a:t>
            </a:r>
            <a:r>
              <a:rPr lang="en-US" sz="2400" dirty="0">
                <a:latin typeface="Times New Roman" panose="02020603050405020304" pitchFamily="18" charset="0"/>
                <a:cs typeface="Times New Roman" panose="02020603050405020304" pitchFamily="18" charset="0"/>
              </a:rPr>
              <a:t> is an innovative online reading platform designed to provide users with seamless access to a wide variety of books in digital format. Through a subscription model, users can enjoy unlimited reading for six months, accessing genres ranging from fiction and non-fiction to educational and self-help. The platform features an intuitive interface, personalized recommendations, and secure user authentication, ensuring a safe and engaging reading experience. With mobile and desktop compatibility, </a:t>
            </a:r>
            <a:r>
              <a:rPr lang="en-US" sz="2400" dirty="0" err="1">
                <a:latin typeface="Times New Roman" panose="02020603050405020304" pitchFamily="18" charset="0"/>
                <a:cs typeface="Times New Roman" panose="02020603050405020304" pitchFamily="18" charset="0"/>
              </a:rPr>
              <a:t>PageTurner</a:t>
            </a:r>
            <a:r>
              <a:rPr lang="en-US" sz="2400" dirty="0">
                <a:latin typeface="Times New Roman" panose="02020603050405020304" pitchFamily="18" charset="0"/>
                <a:cs typeface="Times New Roman" panose="02020603050405020304" pitchFamily="18" charset="0"/>
              </a:rPr>
              <a:t> aims to revolutionize how readers discover and enjoy books anytime, anywhere, while promoting digital literacy and convenient access to literature.</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a:xfrm>
            <a:off x="3870649" y="6326891"/>
            <a:ext cx="4114800" cy="365125"/>
          </a:xfrm>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973667" y="2301346"/>
            <a:ext cx="10515600" cy="2255308"/>
          </a:xfrm>
        </p:spPr>
        <p:txBody>
          <a:bodyPr>
            <a:normAutofit/>
          </a:bodyPr>
          <a:lstStyle/>
          <a:p>
            <a:pPr marL="457200" lvl="1" indent="-339725" algn="just"/>
            <a:r>
              <a:rPr lang="en-US" dirty="0">
                <a:latin typeface="Times New Roman" panose="02020603050405020304" pitchFamily="18" charset="0"/>
                <a:cs typeface="Times New Roman" panose="02020603050405020304" pitchFamily="18" charset="0"/>
              </a:rPr>
              <a:t>In the existing system, most online reading platforms require users to purchase books individually or have limited free access. This makes reading expensive for users who want to explore many books. Some platforms also have limited features, poor organization of genres, and lack personalized recommendations. Additionally, accessing books across multiple devices may not always be convenient, which reduces the overall reading experience.</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838200" y="2130070"/>
            <a:ext cx="10515600" cy="2864908"/>
          </a:xfrm>
        </p:spPr>
        <p:txBody>
          <a:bodyPr>
            <a:normAutofit/>
          </a:bodyPr>
          <a:lstStyle/>
          <a:p>
            <a:r>
              <a:rPr lang="en-US" sz="2400" dirty="0"/>
              <a:t>The proposed system, </a:t>
            </a:r>
            <a:r>
              <a:rPr lang="en-US" sz="2400" b="1" dirty="0" err="1"/>
              <a:t>PageTurner</a:t>
            </a:r>
            <a:r>
              <a:rPr lang="en-US" sz="2400" dirty="0"/>
              <a:t>, is a digital reading platform that allows users to access a wide collection of books through a subscription model. Instead of purchasing books individually, users can subscribe for a fixed period (six months) and read unlimited books from different genres. The platform provides a user-friendly interface, organized genre categories, and personalized recommendations to help users discover new books easily. It also supports access from multiple devices, allowing users to read anytime and anywhere, making the reading experience more convenient and affordable.</a:t>
            </a:r>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9" name="Content Placeholder 8">
            <a:extLst>
              <a:ext uri="{FF2B5EF4-FFF2-40B4-BE49-F238E27FC236}">
                <a16:creationId xmlns:a16="http://schemas.microsoft.com/office/drawing/2014/main" id="{BB15296F-156D-BE47-727B-C34C7CDD40D4}"/>
              </a:ext>
            </a:extLst>
          </p:cNvPr>
          <p:cNvSpPr>
            <a:spLocks noGrp="1"/>
          </p:cNvSpPr>
          <p:nvPr>
            <p:ph idx="1"/>
          </p:nvPr>
        </p:nvSpPr>
        <p:spPr>
          <a:xfrm>
            <a:off x="838200" y="1944159"/>
            <a:ext cx="10515600" cy="3508375"/>
          </a:xfrm>
        </p:spPr>
        <p:txBody>
          <a:bodyPr>
            <a:normAutofit/>
          </a:bodyPr>
          <a:lstStyle/>
          <a:p>
            <a:r>
              <a:rPr lang="en-US" sz="2400" dirty="0"/>
              <a:t>The </a:t>
            </a:r>
            <a:r>
              <a:rPr lang="en-US" sz="2400" dirty="0" err="1"/>
              <a:t>PageTurner</a:t>
            </a:r>
            <a:r>
              <a:rPr lang="en-US" sz="2400" dirty="0"/>
              <a:t> system follows a three-tier architecture consisting of the presentation layer, application layer, and database layer. The presentation layer is the user interface built using HTML, CSS, and JavaScript, which allows users to interact with the platform through a web browser. The application layer is developed using Node.js and Express.js, which handles the business logic such as user authentication, book management, and subscription services. The database layer uses MongoDB to store user information, book details, and subscription data. These layers work together to ensure smooth communication between the user interface and the database, providing a secure and efficient digital reading experience.</a:t>
            </a:r>
          </a:p>
          <a:p>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2" name="Content Placeholder 1">
            <a:extLst>
              <a:ext uri="{FF2B5EF4-FFF2-40B4-BE49-F238E27FC236}">
                <a16:creationId xmlns:a16="http://schemas.microsoft.com/office/drawing/2014/main" id="{E256B81F-4AEF-6605-8CBD-9563459C1022}"/>
              </a:ext>
            </a:extLst>
          </p:cNvPr>
          <p:cNvSpPr>
            <a:spLocks noGrp="1" noChangeArrowheads="1"/>
          </p:cNvSpPr>
          <p:nvPr>
            <p:ph idx="1"/>
          </p:nvPr>
        </p:nvSpPr>
        <p:spPr bwMode="auto">
          <a:xfrm>
            <a:off x="603537" y="1835211"/>
            <a:ext cx="1132734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Registration and Login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module allows new users to create an account and existing users to log in securely to the platform.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Book Management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module manages the collection of books available on the platform, including adding, updating, and organizing books into different genres.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Subscription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module allows users to subscribe to the platform for a fixed period (six months) to access unlimited books.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 and Filter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module helps users easily find books using search options and genre-based filters.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Reading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module enables users to open and read digital books (PDF format) directly on the platform.</a:t>
            </a:r>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2" name="Content Placeholder 1">
            <a:extLst>
              <a:ext uri="{FF2B5EF4-FFF2-40B4-BE49-F238E27FC236}">
                <a16:creationId xmlns:a16="http://schemas.microsoft.com/office/drawing/2014/main" id="{16E3B1A7-3D00-A0F6-35DF-8FB8A3ACD91F}"/>
              </a:ext>
            </a:extLst>
          </p:cNvPr>
          <p:cNvSpPr>
            <a:spLocks noGrp="1" noChangeArrowheads="1"/>
          </p:cNvSpPr>
          <p:nvPr>
            <p:ph idx="1"/>
          </p:nvPr>
        </p:nvSpPr>
        <p:spPr bwMode="auto">
          <a:xfrm>
            <a:off x="2174958" y="1871719"/>
            <a:ext cx="818450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unlimited access to a variety of books through a single subscription.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 easy-to-use and responsive digital reading platform.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implement secure user authentication for a safe reading experience.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offer genre-based filters and personalized recommendations for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support multi-device access for reading on mobile, tablet, or desktop.</a:t>
            </a:r>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1B69B-213C-8215-4DD8-D60CD756B09D}"/>
              </a:ext>
            </a:extLst>
          </p:cNvPr>
          <p:cNvSpPr>
            <a:spLocks noGrp="1"/>
          </p:cNvSpPr>
          <p:nvPr>
            <p:ph type="title"/>
          </p:nvPr>
        </p:nvSpPr>
        <p:spPr/>
        <p:txBody>
          <a:bodyPr/>
          <a:lstStyle/>
          <a:p>
            <a:r>
              <a:rPr lang="en-US" b="1" dirty="0"/>
              <a:t>                    Co’s Attainments - FWD</a:t>
            </a:r>
            <a:endParaRPr lang="en-IN" dirty="0"/>
          </a:p>
        </p:txBody>
      </p:sp>
      <p:graphicFrame>
        <p:nvGraphicFramePr>
          <p:cNvPr id="7" name="Content Placeholder 6">
            <a:extLst>
              <a:ext uri="{FF2B5EF4-FFF2-40B4-BE49-F238E27FC236}">
                <a16:creationId xmlns:a16="http://schemas.microsoft.com/office/drawing/2014/main" id="{5A74D9EA-6731-8876-EBF0-4F3739B378D1}"/>
              </a:ext>
            </a:extLst>
          </p:cNvPr>
          <p:cNvGraphicFramePr>
            <a:graphicFrameLocks noGrp="1"/>
          </p:cNvGraphicFramePr>
          <p:nvPr>
            <p:ph idx="1"/>
            <p:extLst>
              <p:ext uri="{D42A27DB-BD31-4B8C-83A1-F6EECF244321}">
                <p14:modId xmlns:p14="http://schemas.microsoft.com/office/powerpoint/2010/main" val="2083006108"/>
              </p:ext>
            </p:extLst>
          </p:nvPr>
        </p:nvGraphicFramePr>
        <p:xfrm>
          <a:off x="839755" y="1825625"/>
          <a:ext cx="10514045" cy="4248606"/>
        </p:xfrm>
        <a:graphic>
          <a:graphicData uri="http://schemas.openxmlformats.org/drawingml/2006/table">
            <a:tbl>
              <a:tblPr firstRow="1" bandRow="1">
                <a:tableStyleId>{616DA210-FB5B-4158-B5E0-FEB733F419BA}</a:tableStyleId>
              </a:tblPr>
              <a:tblGrid>
                <a:gridCol w="830425">
                  <a:extLst>
                    <a:ext uri="{9D8B030D-6E8A-4147-A177-3AD203B41FA5}">
                      <a16:colId xmlns:a16="http://schemas.microsoft.com/office/drawing/2014/main" val="1388519685"/>
                    </a:ext>
                  </a:extLst>
                </a:gridCol>
                <a:gridCol w="9683620">
                  <a:extLst>
                    <a:ext uri="{9D8B030D-6E8A-4147-A177-3AD203B41FA5}">
                      <a16:colId xmlns:a16="http://schemas.microsoft.com/office/drawing/2014/main" val="2125440000"/>
                    </a:ext>
                  </a:extLst>
                </a:gridCol>
              </a:tblGrid>
              <a:tr h="708101">
                <a:tc>
                  <a:txBody>
                    <a:bodyPr/>
                    <a:lstStyle/>
                    <a:p>
                      <a:r>
                        <a:rPr lang="en-IN" sz="1800" dirty="0">
                          <a:latin typeface="Times New Roman" panose="02020603050405020304" pitchFamily="18" charset="0"/>
                          <a:cs typeface="Times New Roman" panose="02020603050405020304" pitchFamily="18" charset="0"/>
                        </a:rPr>
                        <a:t>CO NO</a:t>
                      </a:r>
                    </a:p>
                  </a:txBody>
                  <a:tcPr/>
                </a:tc>
                <a:tc>
                  <a:txBody>
                    <a:bodyPr/>
                    <a:lstStyle/>
                    <a:p>
                      <a:r>
                        <a:rPr lang="en-IN" sz="1800" dirty="0">
                          <a:latin typeface="Times New Roman" panose="02020603050405020304" pitchFamily="18" charset="0"/>
                          <a:cs typeface="Times New Roman" panose="02020603050405020304" pitchFamily="18" charset="0"/>
                        </a:rPr>
                        <a:t>COURSE OUTCOME(CO)</a:t>
                      </a:r>
                    </a:p>
                  </a:txBody>
                  <a:tcPr/>
                </a:tc>
                <a:extLst>
                  <a:ext uri="{0D108BD9-81ED-4DB2-BD59-A6C34878D82A}">
                    <a16:rowId xmlns:a16="http://schemas.microsoft.com/office/drawing/2014/main" val="997834437"/>
                  </a:ext>
                </a:extLst>
              </a:tr>
              <a:tr h="708101">
                <a:tc>
                  <a:txBody>
                    <a:bodyPr/>
                    <a:lstStyle/>
                    <a:p>
                      <a:r>
                        <a:rPr lang="en-IN" sz="1800" dirty="0">
                          <a:latin typeface="Times New Roman" panose="02020603050405020304" pitchFamily="18" charset="0"/>
                          <a:cs typeface="Times New Roman" panose="02020603050405020304" pitchFamily="18" charset="0"/>
                        </a:rPr>
                        <a:t>CO 1</a:t>
                      </a:r>
                    </a:p>
                  </a:txBody>
                  <a:tcPr/>
                </a:tc>
                <a:tc>
                  <a:txBody>
                    <a:bodyPr/>
                    <a:lstStyle/>
                    <a:p>
                      <a:r>
                        <a:rPr lang="en-US" sz="1800" dirty="0">
                          <a:latin typeface="Times New Roman" panose="02020603050405020304" pitchFamily="18" charset="0"/>
                          <a:cs typeface="Times New Roman" panose="02020603050405020304" pitchFamily="18" charset="0"/>
                        </a:rPr>
                        <a:t>Apply Internet Fundamentals, HTML &amp; Introductory CSS Styling</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6725580"/>
                  </a:ext>
                </a:extLst>
              </a:tr>
              <a:tr h="708101">
                <a:tc>
                  <a:txBody>
                    <a:bodyPr/>
                    <a:lstStyle/>
                    <a:p>
                      <a:r>
                        <a:rPr lang="en-IN" sz="1800" dirty="0">
                          <a:latin typeface="Times New Roman" panose="02020603050405020304" pitchFamily="18" charset="0"/>
                          <a:cs typeface="Times New Roman" panose="02020603050405020304" pitchFamily="18" charset="0"/>
                        </a:rPr>
                        <a:t>CO 2</a:t>
                      </a:r>
                    </a:p>
                  </a:txBody>
                  <a:tcPr/>
                </a:tc>
                <a:tc>
                  <a:txBody>
                    <a:bodyPr/>
                    <a:lstStyle/>
                    <a:p>
                      <a:r>
                        <a:rPr lang="en-US" sz="1800" dirty="0">
                          <a:latin typeface="Times New Roman" panose="02020603050405020304" pitchFamily="18" charset="0"/>
                          <a:cs typeface="Times New Roman" panose="02020603050405020304" pitchFamily="18" charset="0"/>
                        </a:rPr>
                        <a:t>Apply HTML Forms, Semantic Tags &amp; Comprehensive CSS Layouts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5095412"/>
                  </a:ext>
                </a:extLst>
              </a:tr>
              <a:tr h="708101">
                <a:tc>
                  <a:txBody>
                    <a:bodyPr/>
                    <a:lstStyle/>
                    <a:p>
                      <a:r>
                        <a:rPr lang="en-IN" sz="1800" dirty="0">
                          <a:latin typeface="Times New Roman" panose="02020603050405020304" pitchFamily="18" charset="0"/>
                          <a:cs typeface="Times New Roman" panose="02020603050405020304" pitchFamily="18" charset="0"/>
                        </a:rPr>
                        <a:t>CO 3</a:t>
                      </a:r>
                    </a:p>
                  </a:txBody>
                  <a:tcPr/>
                </a:tc>
                <a:tc>
                  <a:txBody>
                    <a:bodyPr/>
                    <a:lstStyle/>
                    <a:p>
                      <a:r>
                        <a:rPr lang="en-IN" sz="1800" dirty="0">
                          <a:latin typeface="Times New Roman" panose="02020603050405020304" pitchFamily="18" charset="0"/>
                          <a:cs typeface="Times New Roman" panose="02020603050405020304" pitchFamily="18" charset="0"/>
                        </a:rPr>
                        <a:t>Apply JavaScript Programming Essentials</a:t>
                      </a:r>
                    </a:p>
                  </a:txBody>
                  <a:tcPr/>
                </a:tc>
                <a:extLst>
                  <a:ext uri="{0D108BD9-81ED-4DB2-BD59-A6C34878D82A}">
                    <a16:rowId xmlns:a16="http://schemas.microsoft.com/office/drawing/2014/main" val="2772290028"/>
                  </a:ext>
                </a:extLst>
              </a:tr>
              <a:tr h="708101">
                <a:tc>
                  <a:txBody>
                    <a:bodyPr/>
                    <a:lstStyle/>
                    <a:p>
                      <a:r>
                        <a:rPr lang="en-IN" sz="1800" dirty="0">
                          <a:latin typeface="Times New Roman" panose="02020603050405020304" pitchFamily="18" charset="0"/>
                          <a:cs typeface="Times New Roman" panose="02020603050405020304" pitchFamily="18" charset="0"/>
                        </a:rPr>
                        <a:t>CO 4</a:t>
                      </a:r>
                    </a:p>
                  </a:txBody>
                  <a:tcPr/>
                </a:tc>
                <a:tc>
                  <a:txBody>
                    <a:bodyPr/>
                    <a:lstStyle/>
                    <a:p>
                      <a:r>
                        <a:rPr lang="en-IN" sz="1800" dirty="0">
                          <a:latin typeface="Times New Roman" panose="02020603050405020304" pitchFamily="18" charset="0"/>
                          <a:cs typeface="Times New Roman" panose="02020603050405020304" pitchFamily="18" charset="0"/>
                        </a:rPr>
                        <a:t>Apply JavaScript Interactivity, DOM</a:t>
                      </a:r>
                    </a:p>
                  </a:txBody>
                  <a:tcPr/>
                </a:tc>
                <a:extLst>
                  <a:ext uri="{0D108BD9-81ED-4DB2-BD59-A6C34878D82A}">
                    <a16:rowId xmlns:a16="http://schemas.microsoft.com/office/drawing/2014/main" val="3100692921"/>
                  </a:ext>
                </a:extLst>
              </a:tr>
              <a:tr h="708101">
                <a:tc>
                  <a:txBody>
                    <a:bodyPr/>
                    <a:lstStyle/>
                    <a:p>
                      <a:r>
                        <a:rPr lang="en-IN" sz="1800" dirty="0">
                          <a:latin typeface="Times New Roman" panose="02020603050405020304" pitchFamily="18" charset="0"/>
                          <a:cs typeface="Times New Roman" panose="02020603050405020304" pitchFamily="18" charset="0"/>
                        </a:rPr>
                        <a:t>CO 5</a:t>
                      </a:r>
                    </a:p>
                  </a:txBody>
                  <a:tcPr/>
                </a:tc>
                <a:tc>
                  <a:txBody>
                    <a:bodyPr/>
                    <a:lstStyle/>
                    <a:p>
                      <a:r>
                        <a:rPr lang="en-US" sz="1800" dirty="0">
                          <a:latin typeface="Times New Roman" panose="02020603050405020304" pitchFamily="18" charset="0"/>
                          <a:cs typeface="Times New Roman" panose="02020603050405020304" pitchFamily="18" charset="0"/>
                        </a:rPr>
                        <a:t>Apply Advanced Web Development &amp; Deployment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51975116"/>
                  </a:ext>
                </a:extLst>
              </a:tr>
            </a:tbl>
          </a:graphicData>
        </a:graphic>
      </p:graphicFrame>
      <p:sp>
        <p:nvSpPr>
          <p:cNvPr id="4" name="Date Placeholder 3">
            <a:extLst>
              <a:ext uri="{FF2B5EF4-FFF2-40B4-BE49-F238E27FC236}">
                <a16:creationId xmlns:a16="http://schemas.microsoft.com/office/drawing/2014/main" id="{17BE536F-6C8E-9562-5105-DC9B01734453}"/>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527E1AB-D59A-3290-4F0B-3FBC9A748270}"/>
              </a:ext>
            </a:extLst>
          </p:cNvPr>
          <p:cNvSpPr>
            <a:spLocks noGrp="1"/>
          </p:cNvSpPr>
          <p:nvPr>
            <p:ph type="ftr" sz="quarter" idx="11"/>
          </p:nvPr>
        </p:nvSpPr>
        <p:spPr/>
        <p:txBody>
          <a:bodyPr/>
          <a:lstStyle/>
          <a:p>
            <a:r>
              <a:rPr lang="en-US" dirty="0"/>
              <a:t>      173030211           Department of CSE</a:t>
            </a:r>
          </a:p>
        </p:txBody>
      </p:sp>
      <p:sp>
        <p:nvSpPr>
          <p:cNvPr id="6" name="Slide Number Placeholder 5">
            <a:extLst>
              <a:ext uri="{FF2B5EF4-FFF2-40B4-BE49-F238E27FC236}">
                <a16:creationId xmlns:a16="http://schemas.microsoft.com/office/drawing/2014/main" id="{E9BD2C78-E064-42CA-CA64-BD2E8190CFAA}"/>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931724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graphicFrame>
        <p:nvGraphicFramePr>
          <p:cNvPr id="2" name="Content Placeholder 1">
            <a:extLst>
              <a:ext uri="{FF2B5EF4-FFF2-40B4-BE49-F238E27FC236}">
                <a16:creationId xmlns:a16="http://schemas.microsoft.com/office/drawing/2014/main" id="{735FA58F-3900-B5D2-4EFC-4DD0FC07F683}"/>
              </a:ext>
            </a:extLst>
          </p:cNvPr>
          <p:cNvGraphicFramePr>
            <a:graphicFrameLocks noGrp="1"/>
          </p:cNvGraphicFramePr>
          <p:nvPr>
            <p:ph idx="1"/>
            <p:extLst>
              <p:ext uri="{D42A27DB-BD31-4B8C-83A1-F6EECF244321}">
                <p14:modId xmlns:p14="http://schemas.microsoft.com/office/powerpoint/2010/main" val="3339653106"/>
              </p:ext>
            </p:extLst>
          </p:nvPr>
        </p:nvGraphicFramePr>
        <p:xfrm>
          <a:off x="520959" y="1578930"/>
          <a:ext cx="11420669" cy="4448646"/>
        </p:xfrm>
        <a:graphic>
          <a:graphicData uri="http://schemas.openxmlformats.org/drawingml/2006/table">
            <a:tbl>
              <a:tblPr firstRow="1" bandRow="1">
                <a:tableStyleId>{616DA210-FB5B-4158-B5E0-FEB733F419BA}</a:tableStyleId>
              </a:tblPr>
              <a:tblGrid>
                <a:gridCol w="722149">
                  <a:extLst>
                    <a:ext uri="{9D8B030D-6E8A-4147-A177-3AD203B41FA5}">
                      <a16:colId xmlns:a16="http://schemas.microsoft.com/office/drawing/2014/main" val="2104152393"/>
                    </a:ext>
                  </a:extLst>
                </a:gridCol>
                <a:gridCol w="10698520">
                  <a:extLst>
                    <a:ext uri="{9D8B030D-6E8A-4147-A177-3AD203B41FA5}">
                      <a16:colId xmlns:a16="http://schemas.microsoft.com/office/drawing/2014/main" val="519319651"/>
                    </a:ext>
                  </a:extLst>
                </a:gridCol>
              </a:tblGrid>
              <a:tr h="676968">
                <a:tc>
                  <a:txBody>
                    <a:bodyPr/>
                    <a:lstStyle/>
                    <a:p>
                      <a:r>
                        <a:rPr lang="en-IN" dirty="0">
                          <a:latin typeface="Times New Roman" panose="02020603050405020304" pitchFamily="18" charset="0"/>
                          <a:cs typeface="Times New Roman" panose="02020603050405020304" pitchFamily="18" charset="0"/>
                        </a:rPr>
                        <a:t>CO NO</a:t>
                      </a:r>
                    </a:p>
                  </a:txBody>
                  <a:tcPr/>
                </a:tc>
                <a:tc>
                  <a:txBody>
                    <a:bodyPr/>
                    <a:lstStyle/>
                    <a:p>
                      <a:r>
                        <a:rPr lang="en-IN" dirty="0">
                          <a:latin typeface="Times New Roman" panose="02020603050405020304" pitchFamily="18" charset="0"/>
                          <a:cs typeface="Times New Roman" panose="02020603050405020304" pitchFamily="18" charset="0"/>
                        </a:rPr>
                        <a:t>COURSE OUTCOME(CO)</a:t>
                      </a:r>
                    </a:p>
                  </a:txBody>
                  <a:tcPr/>
                </a:tc>
                <a:extLst>
                  <a:ext uri="{0D108BD9-81ED-4DB2-BD59-A6C34878D82A}">
                    <a16:rowId xmlns:a16="http://schemas.microsoft.com/office/drawing/2014/main" val="245131238"/>
                  </a:ext>
                </a:extLst>
              </a:tr>
              <a:tr h="1547355">
                <a:tc>
                  <a:txBody>
                    <a:bodyPr/>
                    <a:lstStyle/>
                    <a:p>
                      <a:r>
                        <a:rPr lang="en-IN" dirty="0">
                          <a:latin typeface="Times New Roman" panose="02020603050405020304" pitchFamily="18" charset="0"/>
                          <a:cs typeface="Times New Roman" panose="02020603050405020304" pitchFamily="18" charset="0"/>
                        </a:rPr>
                        <a:t>CO 1</a:t>
                      </a:r>
                    </a:p>
                  </a:txBody>
                  <a:tcPr/>
                </a:tc>
                <a:tc>
                  <a:txBody>
                    <a:bodyPr/>
                    <a:lstStyle/>
                    <a:p>
                      <a:r>
                        <a:rPr lang="en-US" dirty="0">
                          <a:latin typeface="Times New Roman" panose="02020603050405020304" pitchFamily="18" charset="0"/>
                          <a:cs typeface="Times New Roman" panose="02020603050405020304" pitchFamily="18" charset="0"/>
                        </a:rPr>
                        <a:t>Analyze problem statements and reason about algorithmic efficiency using asymptotic notation (Big-O, Ω, Θ), recurrence relations, and empirical measurements of time and space complexity, in order to compare alternative </a:t>
                      </a:r>
                      <a:r>
                        <a:rPr lang="en-US" dirty="0" err="1">
                          <a:latin typeface="Times New Roman" panose="02020603050405020304" pitchFamily="18" charset="0"/>
                          <a:cs typeface="Times New Roman" panose="02020603050405020304" pitchFamily="18" charset="0"/>
                        </a:rPr>
                        <a:t>solutions,Implement</a:t>
                      </a:r>
                      <a:r>
                        <a:rPr lang="en-US" dirty="0">
                          <a:latin typeface="Times New Roman" panose="02020603050405020304" pitchFamily="18" charset="0"/>
                          <a:cs typeface="Times New Roman" panose="02020603050405020304" pitchFamily="18" charset="0"/>
                        </a:rPr>
                        <a:t> and analyze classical searching and sorting algorithms in Java (including linear search, binary search, bubble, selection, insertion, merge, quick), and justify the choice of algorithm for different input characteristics and constraints.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056131"/>
                  </a:ext>
                </a:extLst>
              </a:tr>
              <a:tr h="967097">
                <a:tc>
                  <a:txBody>
                    <a:bodyPr/>
                    <a:lstStyle/>
                    <a:p>
                      <a:r>
                        <a:rPr lang="en-IN" dirty="0">
                          <a:latin typeface="Times New Roman" panose="02020603050405020304" pitchFamily="18" charset="0"/>
                          <a:cs typeface="Times New Roman" panose="02020603050405020304" pitchFamily="18" charset="0"/>
                        </a:rPr>
                        <a:t>CO 2</a:t>
                      </a:r>
                    </a:p>
                  </a:txBody>
                  <a:tcPr/>
                </a:tc>
                <a:tc>
                  <a:txBody>
                    <a:bodyPr/>
                    <a:lstStyle/>
                    <a:p>
                      <a:r>
                        <a:rPr lang="en-US" dirty="0">
                          <a:latin typeface="Times New Roman" panose="02020603050405020304" pitchFamily="18" charset="0"/>
                          <a:cs typeface="Times New Roman" panose="02020603050405020304" pitchFamily="18" charset="0"/>
                        </a:rPr>
                        <a:t>Design and implement Abstract Data Types (ADTs) using arrays and linked lists (singly, doubly, circular), perform typical operations (insert, delete, search, traverse, reverse, detect cycles), and reason about their trade-offs for different use cases.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36467167"/>
                  </a:ext>
                </a:extLst>
              </a:tr>
              <a:tr h="1257226">
                <a:tc>
                  <a:txBody>
                    <a:bodyPr/>
                    <a:lstStyle/>
                    <a:p>
                      <a:r>
                        <a:rPr lang="en-IN" dirty="0">
                          <a:latin typeface="Times New Roman" panose="02020603050405020304" pitchFamily="18" charset="0"/>
                          <a:cs typeface="Times New Roman" panose="02020603050405020304" pitchFamily="18" charset="0"/>
                        </a:rPr>
                        <a:t>CO 3</a:t>
                      </a:r>
                    </a:p>
                  </a:txBody>
                  <a:tcPr/>
                </a:tc>
                <a:tc>
                  <a:txBody>
                    <a:bodyPr/>
                    <a:lstStyle/>
                    <a:p>
                      <a:r>
                        <a:rPr lang="en-US" dirty="0">
                          <a:latin typeface="Times New Roman" panose="02020603050405020304" pitchFamily="18" charset="0"/>
                          <a:cs typeface="Times New Roman" panose="02020603050405020304" pitchFamily="18" charset="0"/>
                        </a:rPr>
                        <a:t>Apply stacks and queues (including circular queues and deques) to model real-world workflows , selecting appropriate implementations (array-based or linked) based on performance </a:t>
                      </a:r>
                      <a:r>
                        <a:rPr lang="en-US" dirty="0" err="1">
                          <a:latin typeface="Times New Roman" panose="02020603050405020304" pitchFamily="18" charset="0"/>
                          <a:cs typeface="Times New Roman" panose="02020603050405020304" pitchFamily="18" charset="0"/>
                        </a:rPr>
                        <a:t>considerations,Implement</a:t>
                      </a:r>
                      <a:r>
                        <a:rPr lang="en-US" dirty="0">
                          <a:latin typeface="Times New Roman" panose="02020603050405020304" pitchFamily="18" charset="0"/>
                          <a:cs typeface="Times New Roman" panose="02020603050405020304" pitchFamily="18" charset="0"/>
                        </a:rPr>
                        <a:t> heaps and priority queues, and use them in scenarios that require prioritized processing , analyzing their performance compared to other linear data structures.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57163897"/>
                  </a:ext>
                </a:extLst>
              </a:tr>
            </a:tbl>
          </a:graphicData>
        </a:graphic>
      </p:graphicFrame>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a:xfrm>
            <a:off x="651588" y="6480621"/>
            <a:ext cx="2743200" cy="365125"/>
          </a:xfrm>
        </p:spPr>
        <p:txBody>
          <a:bodyPr/>
          <a:lstStyle/>
          <a:p>
            <a:fld id="{20A639D7-EAE1-7C4A-AC63-30DD6B16DE20}" type="datetime1">
              <a:rPr lang="en-IN" smtClean="0"/>
              <a:t>10-03-2026</a:t>
            </a:fld>
            <a:endParaRPr lang="en-US" dirty="0"/>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a:xfrm>
            <a:off x="4038600" y="6480622"/>
            <a:ext cx="4114800" cy="365125"/>
          </a:xfrm>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a:xfrm>
            <a:off x="8797212" y="6520868"/>
            <a:ext cx="2743200" cy="365125"/>
          </a:xfrm>
        </p:spPr>
        <p:txBody>
          <a:bodyPr/>
          <a:lstStyle/>
          <a:p>
            <a:fld id="{B961B71F-4B40-8942-BB88-E0F5C0B46E10}" type="slidenum">
              <a:rPr lang="en-US" smtClean="0"/>
              <a:t>11</a:t>
            </a:fld>
            <a:endParaRPr lang="en-US" dirty="0"/>
          </a:p>
        </p:txBody>
      </p:sp>
    </p:spTree>
    <p:extLst>
      <p:ext uri="{BB962C8B-B14F-4D97-AF65-F5344CB8AC3E}">
        <p14:creationId xmlns:p14="http://schemas.microsoft.com/office/powerpoint/2010/main" val="34436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4D1ABD4-BF13-1B28-50E1-34697F8E678E}"/>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DCAB1119-20F2-598C-CDA7-E493F526C93C}"/>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803D57C-48D5-F33B-7D44-34A1AD9E5FB2}"/>
              </a:ext>
            </a:extLst>
          </p:cNvPr>
          <p:cNvSpPr>
            <a:spLocks noGrp="1"/>
          </p:cNvSpPr>
          <p:nvPr>
            <p:ph type="sldNum" sz="quarter" idx="12"/>
          </p:nvPr>
        </p:nvSpPr>
        <p:spPr/>
        <p:txBody>
          <a:bodyPr/>
          <a:lstStyle/>
          <a:p>
            <a:fld id="{B961B71F-4B40-8942-BB88-E0F5C0B46E10}" type="slidenum">
              <a:rPr lang="en-US" smtClean="0"/>
              <a:t>12</a:t>
            </a:fld>
            <a:endParaRPr lang="en-US"/>
          </a:p>
        </p:txBody>
      </p:sp>
      <p:graphicFrame>
        <p:nvGraphicFramePr>
          <p:cNvPr id="10" name="Content Placeholder 9">
            <a:extLst>
              <a:ext uri="{FF2B5EF4-FFF2-40B4-BE49-F238E27FC236}">
                <a16:creationId xmlns:a16="http://schemas.microsoft.com/office/drawing/2014/main" id="{3E7C63CA-7C5D-851B-5C80-18550719DDE8}"/>
              </a:ext>
            </a:extLst>
          </p:cNvPr>
          <p:cNvGraphicFramePr>
            <a:graphicFrameLocks noGrp="1"/>
          </p:cNvGraphicFramePr>
          <p:nvPr>
            <p:ph idx="1"/>
            <p:extLst>
              <p:ext uri="{D42A27DB-BD31-4B8C-83A1-F6EECF244321}">
                <p14:modId xmlns:p14="http://schemas.microsoft.com/office/powerpoint/2010/main" val="1454871616"/>
              </p:ext>
            </p:extLst>
          </p:nvPr>
        </p:nvGraphicFramePr>
        <p:xfrm>
          <a:off x="838200" y="1303111"/>
          <a:ext cx="10515600" cy="4444548"/>
        </p:xfrm>
        <a:graphic>
          <a:graphicData uri="http://schemas.openxmlformats.org/drawingml/2006/table">
            <a:tbl>
              <a:tblPr firstRow="1" bandRow="1">
                <a:tableStyleId>{616DA210-FB5B-4158-B5E0-FEB733F419BA}</a:tableStyleId>
              </a:tblPr>
              <a:tblGrid>
                <a:gridCol w="869302">
                  <a:extLst>
                    <a:ext uri="{9D8B030D-6E8A-4147-A177-3AD203B41FA5}">
                      <a16:colId xmlns:a16="http://schemas.microsoft.com/office/drawing/2014/main" val="775731121"/>
                    </a:ext>
                  </a:extLst>
                </a:gridCol>
                <a:gridCol w="9646298">
                  <a:extLst>
                    <a:ext uri="{9D8B030D-6E8A-4147-A177-3AD203B41FA5}">
                      <a16:colId xmlns:a16="http://schemas.microsoft.com/office/drawing/2014/main" val="236308444"/>
                    </a:ext>
                  </a:extLst>
                </a:gridCol>
              </a:tblGrid>
              <a:tr h="1111137">
                <a:tc>
                  <a:txBody>
                    <a:bodyPr/>
                    <a:lstStyle/>
                    <a:p>
                      <a:r>
                        <a:rPr lang="en-IN" dirty="0">
                          <a:latin typeface="Times New Roman" panose="02020603050405020304" pitchFamily="18" charset="0"/>
                          <a:cs typeface="Times New Roman" panose="02020603050405020304" pitchFamily="18" charset="0"/>
                        </a:rPr>
                        <a:t>CO NO</a:t>
                      </a:r>
                    </a:p>
                  </a:txBody>
                  <a:tcPr/>
                </a:tc>
                <a:tc>
                  <a:txBody>
                    <a:bodyPr/>
                    <a:lstStyle/>
                    <a:p>
                      <a:r>
                        <a:rPr lang="en-IN" dirty="0">
                          <a:latin typeface="Times New Roman" panose="02020603050405020304" pitchFamily="18" charset="0"/>
                          <a:cs typeface="Times New Roman" panose="02020603050405020304" pitchFamily="18" charset="0"/>
                        </a:rPr>
                        <a:t>COURSE OUTCOME(CO)</a:t>
                      </a:r>
                    </a:p>
                  </a:txBody>
                  <a:tcPr/>
                </a:tc>
                <a:extLst>
                  <a:ext uri="{0D108BD9-81ED-4DB2-BD59-A6C34878D82A}">
                    <a16:rowId xmlns:a16="http://schemas.microsoft.com/office/drawing/2014/main" val="1972996995"/>
                  </a:ext>
                </a:extLst>
              </a:tr>
              <a:tr h="1111137">
                <a:tc>
                  <a:txBody>
                    <a:bodyPr/>
                    <a:lstStyle/>
                    <a:p>
                      <a:r>
                        <a:rPr lang="en-IN" dirty="0">
                          <a:latin typeface="Times New Roman" panose="02020603050405020304" pitchFamily="18" charset="0"/>
                          <a:cs typeface="Times New Roman" panose="02020603050405020304" pitchFamily="18" charset="0"/>
                        </a:rPr>
                        <a:t>CO 4</a:t>
                      </a:r>
                    </a:p>
                  </a:txBody>
                  <a:tcPr/>
                </a:tc>
                <a:tc>
                  <a:txBody>
                    <a:bodyPr/>
                    <a:lstStyle/>
                    <a:p>
                      <a:r>
                        <a:rPr lang="en-US" dirty="0">
                          <a:latin typeface="Times New Roman" panose="02020603050405020304" pitchFamily="18" charset="0"/>
                          <a:cs typeface="Times New Roman" panose="02020603050405020304" pitchFamily="18" charset="0"/>
                        </a:rPr>
                        <a:t>Design and implement hash-based data structures (hash tables with chaining and open addressing) and leverage Java Collections (List, Queue, Deque, Map) to build efficient, scalable solutions to realistic problems that demand fast lookup and updates.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04813872"/>
                  </a:ext>
                </a:extLst>
              </a:tr>
              <a:tr h="1111137">
                <a:tc>
                  <a:txBody>
                    <a:bodyPr/>
                    <a:lstStyle/>
                    <a:p>
                      <a:r>
                        <a:rPr lang="en-IN" dirty="0">
                          <a:latin typeface="Times New Roman" panose="02020603050405020304" pitchFamily="18" charset="0"/>
                          <a:cs typeface="Times New Roman" panose="02020603050405020304" pitchFamily="18" charset="0"/>
                        </a:rPr>
                        <a:t>CO 5</a:t>
                      </a:r>
                    </a:p>
                  </a:txBody>
                  <a:tcPr/>
                </a:tc>
                <a:tc>
                  <a:txBody>
                    <a:bodyPr/>
                    <a:lstStyle/>
                    <a:p>
                      <a:r>
                        <a:rPr lang="en-US" dirty="0">
                          <a:latin typeface="Times New Roman" panose="02020603050405020304" pitchFamily="18" charset="0"/>
                          <a:cs typeface="Times New Roman" panose="02020603050405020304" pitchFamily="18" charset="0"/>
                        </a:rPr>
                        <a:t>Design, Develop and evaluate common practical applications for linear Data Structures.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7197015"/>
                  </a:ext>
                </a:extLst>
              </a:tr>
              <a:tr h="1111137">
                <a:tc>
                  <a:txBody>
                    <a:bodyPr/>
                    <a:lstStyle/>
                    <a:p>
                      <a:r>
                        <a:rPr lang="en-IN" dirty="0">
                          <a:latin typeface="Times New Roman" panose="02020603050405020304" pitchFamily="18" charset="0"/>
                          <a:cs typeface="Times New Roman" panose="02020603050405020304" pitchFamily="18" charset="0"/>
                        </a:rPr>
                        <a:t>CO 6</a:t>
                      </a:r>
                    </a:p>
                  </a:txBody>
                  <a:tcPr/>
                </a:tc>
                <a:tc>
                  <a:txBody>
                    <a:bodyPr/>
                    <a:lstStyle/>
                    <a:p>
                      <a:r>
                        <a:rPr lang="en-US" dirty="0">
                          <a:latin typeface="Times New Roman" panose="02020603050405020304" pitchFamily="18" charset="0"/>
                          <a:cs typeface="Times New Roman" panose="02020603050405020304" pitchFamily="18" charset="0"/>
                        </a:rPr>
                        <a:t>Skill the students in such a way that students will be able to develop and create programs as well as applications in DS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05244063"/>
                  </a:ext>
                </a:extLst>
              </a:tr>
            </a:tbl>
          </a:graphicData>
        </a:graphic>
      </p:graphicFrame>
    </p:spTree>
    <p:extLst>
      <p:ext uri="{BB962C8B-B14F-4D97-AF65-F5344CB8AC3E}">
        <p14:creationId xmlns:p14="http://schemas.microsoft.com/office/powerpoint/2010/main" val="2176623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p:txBody>
          <a:bodyPr/>
          <a:lstStyle/>
          <a:p>
            <a:r>
              <a:rPr lang="en-US" dirty="0"/>
              <a:t>Screenshots for FWD</a:t>
            </a:r>
          </a:p>
        </p:txBody>
      </p:sp>
      <p:pic>
        <p:nvPicPr>
          <p:cNvPr id="8" name="Content Placeholder 7">
            <a:extLst>
              <a:ext uri="{FF2B5EF4-FFF2-40B4-BE49-F238E27FC236}">
                <a16:creationId xmlns:a16="http://schemas.microsoft.com/office/drawing/2014/main" id="{1F30570A-D11B-A356-68F6-B9288B434AA6}"/>
              </a:ext>
            </a:extLst>
          </p:cNvPr>
          <p:cNvPicPr>
            <a:picLocks noGrp="1" noChangeAspect="1"/>
          </p:cNvPicPr>
          <p:nvPr>
            <p:ph idx="1"/>
          </p:nvPr>
        </p:nvPicPr>
        <p:blipFill>
          <a:blip r:embed="rId2"/>
          <a:stretch>
            <a:fillRect/>
          </a:stretch>
        </p:blipFill>
        <p:spPr>
          <a:xfrm>
            <a:off x="1894115" y="1893961"/>
            <a:ext cx="3943808" cy="1325563"/>
          </a:xfrm>
          <a:prstGeom prst="rect">
            <a:avLst/>
          </a:prstGeom>
        </p:spPr>
      </p:pic>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10" name="Picture 9">
            <a:extLst>
              <a:ext uri="{FF2B5EF4-FFF2-40B4-BE49-F238E27FC236}">
                <a16:creationId xmlns:a16="http://schemas.microsoft.com/office/drawing/2014/main" id="{C9E2D427-4E1F-7F10-AB37-541C95E57117}"/>
              </a:ext>
            </a:extLst>
          </p:cNvPr>
          <p:cNvPicPr>
            <a:picLocks noChangeAspect="1"/>
          </p:cNvPicPr>
          <p:nvPr/>
        </p:nvPicPr>
        <p:blipFill>
          <a:blip r:embed="rId3"/>
          <a:stretch>
            <a:fillRect/>
          </a:stretch>
        </p:blipFill>
        <p:spPr>
          <a:xfrm>
            <a:off x="992155" y="3686862"/>
            <a:ext cx="5178490" cy="1579926"/>
          </a:xfrm>
          <a:prstGeom prst="rect">
            <a:avLst/>
          </a:prstGeom>
        </p:spPr>
      </p:pic>
      <p:pic>
        <p:nvPicPr>
          <p:cNvPr id="12" name="Picture 11">
            <a:extLst>
              <a:ext uri="{FF2B5EF4-FFF2-40B4-BE49-F238E27FC236}">
                <a16:creationId xmlns:a16="http://schemas.microsoft.com/office/drawing/2014/main" id="{B69E169B-6935-0B12-B73F-B2E5B028E315}"/>
              </a:ext>
            </a:extLst>
          </p:cNvPr>
          <p:cNvPicPr>
            <a:picLocks noChangeAspect="1"/>
          </p:cNvPicPr>
          <p:nvPr/>
        </p:nvPicPr>
        <p:blipFill>
          <a:blip r:embed="rId4"/>
          <a:stretch>
            <a:fillRect/>
          </a:stretch>
        </p:blipFill>
        <p:spPr>
          <a:xfrm>
            <a:off x="7058541" y="1658031"/>
            <a:ext cx="4021494" cy="2128306"/>
          </a:xfrm>
          <a:prstGeom prst="rect">
            <a:avLst/>
          </a:prstGeom>
        </p:spPr>
      </p:pic>
      <p:pic>
        <p:nvPicPr>
          <p:cNvPr id="14" name="Picture 13">
            <a:extLst>
              <a:ext uri="{FF2B5EF4-FFF2-40B4-BE49-F238E27FC236}">
                <a16:creationId xmlns:a16="http://schemas.microsoft.com/office/drawing/2014/main" id="{0EC3A7E3-1573-1399-A841-52E27DEF000D}"/>
              </a:ext>
            </a:extLst>
          </p:cNvPr>
          <p:cNvPicPr>
            <a:picLocks noChangeAspect="1"/>
          </p:cNvPicPr>
          <p:nvPr/>
        </p:nvPicPr>
        <p:blipFill>
          <a:blip r:embed="rId5"/>
          <a:stretch>
            <a:fillRect/>
          </a:stretch>
        </p:blipFill>
        <p:spPr>
          <a:xfrm>
            <a:off x="7112970" y="3908833"/>
            <a:ext cx="3269306" cy="1934131"/>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a:xfrm>
            <a:off x="838200" y="2190750"/>
            <a:ext cx="10515600" cy="2729442"/>
          </a:xfrm>
        </p:spPr>
        <p:txBody>
          <a:bodyPr>
            <a:normAutofit/>
          </a:bodyPr>
          <a:lstStyle/>
          <a:p>
            <a:pPr marL="0" indent="0">
              <a:buNone/>
            </a:pPr>
            <a:r>
              <a:rPr lang="en-US" sz="2400" dirty="0"/>
              <a:t>The </a:t>
            </a:r>
            <a:r>
              <a:rPr lang="en-US" sz="2400" dirty="0" err="1"/>
              <a:t>PageTurner</a:t>
            </a:r>
            <a:r>
              <a:rPr lang="en-US" sz="2400" dirty="0"/>
              <a:t> platform provides a convenient and modern solution for digital reading. By offering a subscription-based system, users can access a wide variety of books without purchasing them individually. The platform is designed with a simple interface, organized genres, and easy navigation to improve the overall reading experience. </a:t>
            </a:r>
            <a:r>
              <a:rPr lang="en-US" sz="2400" dirty="0" err="1"/>
              <a:t>PageTurner</a:t>
            </a:r>
            <a:r>
              <a:rPr lang="en-US" sz="2400" dirty="0"/>
              <a:t> makes reading more accessible, affordable, and flexible, allowing users to enjoy books anytime and anywhere. This project demonstrates how technology can enhance the way people discover and read books in the digital era</a:t>
            </a:r>
            <a:endParaRPr lang="en-US" sz="2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2858912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4284</TotalTime>
  <Words>1307</Words>
  <Application>Microsoft Office PowerPoint</Application>
  <PresentationFormat>Widescreen</PresentationFormat>
  <Paragraphs>137</Paragraphs>
  <Slides>15</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Calibri</vt:lpstr>
      <vt:lpstr>Calibri Light</vt:lpstr>
      <vt:lpstr>Google Sans</vt:lpstr>
      <vt:lpstr>Times New Roman</vt:lpstr>
      <vt:lpstr>Office Theme</vt:lpstr>
      <vt:lpstr>Custom Design</vt:lpstr>
      <vt:lpstr>INSTRUCTIONS</vt:lpstr>
      <vt:lpstr>Title: Page Turner: A Smart Digital Library Platform for Unlimited Online Reading</vt:lpstr>
      <vt:lpstr>OUTLINE</vt:lpstr>
      <vt:lpstr>Abstract</vt:lpstr>
      <vt:lpstr>Existing System </vt:lpstr>
      <vt:lpstr>Proposed System</vt:lpstr>
      <vt:lpstr>System Architecture</vt:lpstr>
      <vt:lpstr>Project Modules</vt:lpstr>
      <vt:lpstr>Objectives</vt:lpstr>
      <vt:lpstr>                    Co’s Attainments - FWD</vt:lpstr>
      <vt:lpstr>Co’s Attainments - DSA</vt:lpstr>
      <vt:lpstr>PowerPoint Presentation</vt:lpstr>
      <vt:lpstr>Screenshots for FWD</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Koumudi Bommireddy</cp:lastModifiedBy>
  <cp:revision>52</cp:revision>
  <dcterms:created xsi:type="dcterms:W3CDTF">2022-05-20T10:20:31Z</dcterms:created>
  <dcterms:modified xsi:type="dcterms:W3CDTF">2026-03-10T03:30:28Z</dcterms:modified>
</cp:coreProperties>
</file>